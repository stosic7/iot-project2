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4"/>
  </p:normalViewPr>
  <p:slideViewPr>
    <p:cSldViewPr snapToGrid="0" snapToObjects="1">
      <p:cViewPr varScale="1">
        <p:scale>
          <a:sx n="113" d="100"/>
          <a:sy n="113" d="100"/>
        </p:scale>
        <p:origin x="184" y="2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</a:rPr>
              <a:t>IoT Mikroservisi zasnovani na dogadjajima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MQTT vs Kafka — Eksperimentalna analiza performansi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77777"/>
                </a:solidFill>
              </a:rPr>
              <a:t>Spring Boot (MQTT)  |  .NET Core (Kafka)  | 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Arhitektura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MQTT strana (Spring Boot)</a:t>
            </a:r>
          </a:p>
          <a:p>
            <a:r>
              <a:rPr sz="1100">
                <a:solidFill>
                  <a:srgbClr val="000000"/>
                </a:solidFill>
              </a:rPr>
              <a:t>  Ingestion Service  →  Mosquitto Broker  →  Storage Service  →  PostgreSQL</a:t>
            </a:r>
          </a:p>
          <a:p>
            <a:r>
              <a:rPr sz="1100">
                <a:solidFill>
                  <a:srgbClr val="000000"/>
                </a:solidFill>
              </a:rPr>
              <a:t>                                          →  Analytics Service (tumbling window 10s)</a:t>
            </a:r>
          </a:p>
          <a:p>
            <a:endParaRPr sz="1100">
              <a:solidFill>
                <a:srgbClr val="00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Kafka strana (.NET Core)</a:t>
            </a:r>
          </a:p>
          <a:p>
            <a:r>
              <a:rPr sz="1100">
                <a:solidFill>
                  <a:srgbClr val="000000"/>
                </a:solidFill>
              </a:rPr>
              <a:t>  Ingestion Service  →  Kafka KRaft      →  Storage Service  →  PostgreSQL</a:t>
            </a:r>
          </a:p>
          <a:p>
            <a:r>
              <a:rPr sz="1100">
                <a:solidFill>
                  <a:srgbClr val="000000"/>
                </a:solidFill>
              </a:rPr>
              <a:t>                                          →  Analytics Service</a:t>
            </a:r>
          </a:p>
          <a:p>
            <a:endParaRPr sz="1100">
              <a:solidFill>
                <a:srgbClr val="00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Zajednička baza: PostgreSQL (schema: iot_mqtt / iot_kafka)</a:t>
            </a:r>
          </a:p>
          <a:p>
            <a:r>
              <a:rPr sz="1100" b="1">
                <a:solidFill>
                  <a:srgbClr val="000000"/>
                </a:solidFill>
              </a:rPr>
              <a:t>Dataset: real_time_data.csv  |  10 atributa  |  Alarm: temperatura &gt; 50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Scenario A — Masovni unos podataka (Throughput)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Scenario B — Pad mreze i automatski oporavak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Scenario C — Nagli porast opterecenja (Burst Load)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Scenario D — End-to-end latencija (100 uzoraka po QoS)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Faza 5 — Broker benchmark (emqtt-bench, 256B poruke)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Uporedna tabela performansi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645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20240" y="1005840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Throughput (max)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05840"/>
            <a:ext cx="1371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p95 latencija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1371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CPU (max load)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RAM footprint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44752"/>
            <a:ext cx="1645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MQTT QoS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44752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623k msg/s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444752"/>
            <a:ext cx="1371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13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444752"/>
            <a:ext cx="1371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99%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44752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~870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883664"/>
            <a:ext cx="1645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MQTT QoS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883664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80k msg/s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83664"/>
            <a:ext cx="1371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28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83664"/>
            <a:ext cx="1371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106%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83664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~880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322576"/>
            <a:ext cx="1645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MQTT QoS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322576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43k msg/s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322576"/>
            <a:ext cx="1371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31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322576"/>
            <a:ext cx="1371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106%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22576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~870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761488"/>
            <a:ext cx="1645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Kafka (acks=0)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761488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264k msg/s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761488"/>
            <a:ext cx="1371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~10 ms*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761488"/>
            <a:ext cx="1371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104%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61488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~1.1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200400"/>
            <a:ext cx="1645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Kafka (acks=all)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200400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246k msg/s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200400"/>
            <a:ext cx="1371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~10 ms*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200400"/>
            <a:ext cx="1371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17%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200400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~1.2 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7307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</a:rPr>
              <a:t>* p95 latencija merena u Scenariju D (acks=1, RF=1) — acks nivo ne menja trenutak upisa poruke u broker log, vec samo producer-side confirmation (utice na throughput/loss, vidi Scenario 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MQTT — Prednosti na edge, ogranicenja za analitiku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Prednosti na edge: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2-byte header overhead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Radi na TCP sa malim RAM footprintom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QoS garantuje isporuku na nestabilnoj mrezi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cleanSession=false: broker cuva poruke dok je klijent offline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Automatski reconnect bez gubitka pretplate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623k msg/s na QoS 0 (benchmark)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914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Ogranicenja za istorijsku analitiku: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417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Broker ne cuva istoriju poruka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Nema replay mehanizma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Retained message: samo poslednja vrednost po topicu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Horizontalno skaliranje brokera je kompleksno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29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Nema built-in stream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Nema consumer group koncepta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914400"/>
            <a:ext cx="0" cy="3840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Kafka — Cloud dominacija i cena skalabilnosti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</a:rPr>
              <a:t>Kafka prednosti: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Distribuirani commit log — sve poruke sacuvane (konfigurisani retention)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733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Consumer grupe — nezavisno citanje istog streama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082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Horizontalno skaliranje: dodavanjem brokera i particija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6829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Replay: reprocessing istorijskih podataka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157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3 particije po topicu — device_id kao partition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</a:rPr>
              <a:t>Cena skalabilnosti: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39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Minimalni footprint ~512 MB RAM samo za JVM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67911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KRaft mod eliminise Zookeeper overhead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15383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Visoka latencija zbog batch commit logike vs MQTT &lt;5ms p50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62855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Nerealno pokretati na ARM edge uredjaijima sa 256 MB 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10327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Kompleksna konfiguracija vs MQTT 5-linijski mosquitto.conf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Zakljucak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1.  QoS 0 daje 7x veci throughput od QoS 2 (623k vs 43k msg/s) uz zanemarljiv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270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2.  QoS 2 trosi ceo CPU core na 10 000 uredjaja (102%) zbog dvostrukog handshake-a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4825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3.  p50 latencija je gotovo ista za sva 3 QoS nivoa (~4ms) — razlika je na repovima (p99)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94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4.  Mosquitto broker nije usko grlo — Spring klijent je 750x sporiji od direktnog benchmarka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906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5.  Burst load: sistem se odmah adaptira, CPU se vraca na bazni nivo bez akumulacije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6.  cleanSession=false + automaticReconnect = pouzdana isporuka pri padu mreze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3308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7.  MQTT je optimalan za edge ingestion, Kafka za cloud storage i stream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632</Words>
  <Application>Microsoft Macintosh PowerPoint</Application>
  <PresentationFormat>On-screen Show (16:9)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Aleksa Stankovic</cp:lastModifiedBy>
  <cp:revision>2</cp:revision>
  <dcterms:created xsi:type="dcterms:W3CDTF">2013-01-27T09:14:16Z</dcterms:created>
  <dcterms:modified xsi:type="dcterms:W3CDTF">2026-06-15T13:25:46Z</dcterms:modified>
  <cp:category/>
</cp:coreProperties>
</file>
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</a:rPr>
              <a:t>Kafka strana — Event-driven IoT mikroservisi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444444"/>
                </a:solidFill>
              </a:rPr>
              <a:t>Implementacija i eksperimentalna analiza (Apache Kafka, KRaft mod)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77777"/>
                </a:solidFill>
              </a:rPr>
              <a:t>.NET Core / Confluent.Kafka  |  PostgreSQL  |  Scenariji A-D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Arhitektura — Kafka strana (.NET Core)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Ingestion Service</a:t>
            </a:r>
          </a:p>
          <a:p>
            <a:r>
              <a:rPr sz="1100">
                <a:solidFill>
                  <a:srgbClr val="000000"/>
                </a:solidFill>
              </a:rPr>
              <a:t>  Cita real_time_data.csv, simulira DEVICE_COUNT uredjaja (100 / 1000 / 10000)</a:t>
            </a:r>
          </a:p>
          <a:p>
            <a:r>
              <a:rPr sz="1100">
                <a:solidFill>
                  <a:srgbClr val="000000"/>
                </a:solidFill>
              </a:rPr>
              <a:t>  Salje na topic 'iot-sensors' (3 particije, kljuc = device_id), acks = 0 / 1 / all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</a:p>
          <a:p>
            <a:r>
              <a:rPr sz="1100" b="1">
                <a:solidFill>
                  <a:srgbClr val="000000"/>
                </a:solidFill>
              </a:rPr>
              <a:t>Kafka (KRaft mod, confluentinc/cp-kafka:7.6.0)</a:t>
            </a:r>
          </a:p>
          <a:p>
            <a:r>
              <a:rPr sz="1100">
                <a:solidFill>
                  <a:srgbClr val="000000"/>
                </a:solidFill>
              </a:rPr>
              <a:t>  Broker + controller u jednom procesu, bez Zookeeper-a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</a:p>
          <a:p>
            <a:r>
              <a:rPr sz="1100" b="1">
                <a:solidFill>
                  <a:srgbClr val="000000"/>
                </a:solidFill>
              </a:rPr>
              <a:t>Storage Service (consumer group: storage-group)</a:t>
            </a:r>
          </a:p>
          <a:p>
            <a:r>
              <a:rPr sz="1100">
                <a:solidFill>
                  <a:srgbClr val="000000"/>
                </a:solidFill>
              </a:rPr>
              <a:t>  Batch upis u PostgreSQL (BeginBinaryImportAsync / COPY, 500 poruka po batch-u)</a:t>
            </a:r>
          </a:p>
          <a:p>
            <a:r>
              <a:rPr sz="1100">
                <a:solidFill>
                  <a:srgbClr val="000000"/>
                </a:solidFill>
              </a:rPr>
              <a:t>  Logovanje Consumer Lag-a (highWatermark - committed offset)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</a:p>
          <a:p>
            <a:r>
              <a:rPr sz="1100" b="1">
                <a:solidFill>
                  <a:srgbClr val="000000"/>
                </a:solidFill>
              </a:rPr>
              <a:t>Analytics Service (consumer group: analytics-group)</a:t>
            </a:r>
          </a:p>
          <a:p>
            <a:r>
              <a:rPr sz="1100">
                <a:solidFill>
                  <a:srgbClr val="000000"/>
                </a:solidFill>
              </a:rPr>
              <a:t>  Tumbling window 10s -&gt; prosecna temperatura, [ALERT] ako &gt; 50C</a:t>
            </a:r>
          </a:p>
          <a:p>
            <a:r>
              <a:rPr sz="1100">
                <a:solidFill>
                  <a:srgbClr val="000000"/>
                </a:solidFill>
              </a:rPr>
              <a:t>  Logovanje end-to-end latencije (sent_at -&gt; obrada)</a:t>
            </a:r>
          </a:p>
          <a:p>
            <a:r>
              <a:rPr sz="1100">
                <a:solidFill>
                  <a:srgbClr val="000000"/>
                </a:solidFill>
              </a:rPr>
              <a:t/>
            </a:r>
          </a:p>
          <a:p>
            <a:r>
              <a:rPr sz="1100" b="1">
                <a:solidFill>
                  <a:srgbClr val="000000"/>
                </a:solidFill>
              </a:rPr>
              <a:t>PostgreSQL (schema iot_kafka, host port 5434)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A — Masovni unos podataka (Throughput / acks)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A — CPU i RAM Kafka brokera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B — Prekid mreze na ingestion servisu (30s)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75488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9144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docker network disconnect kafka-ingestion (30s), zatim reconnect.
Storage Service (consumer group storage-group) cita commit log po poslednjem committed offset-u, nezavisno od producer-a.
Lag se nastavlja smanjivati i tokom prekida producer-a (npr. partition 1: 9 315 403 -&gt; 9 297 174 za ~70s) — bez greske i bez gubitka poruka.
Recovery mehanizam: offset-based resume (a ne session/retained poruke kao na MQTT strani).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C — Nagli porast opterecenja (50 -&gt; 5000 -&gt; 50 msg/s)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59536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</a:rPr>
              <a:t>Backlog formiran tokom 5s burst-a (peak lag=414 na t=14s) je u potpunosti otklonjen (lag=0) u roku od ~8s nakon povratka na baznu stopu (50 msg/s) — recovery time ~8s.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Scenario D — Real-Time Alerting (end-to-end latencija)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4754880" cy="3383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914400"/>
            <a:ext cx="3657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</a:rPr>
              <a:t>Tumbling window (10s) racuna prosecnu temperaturu i podize [ALERT] ako &gt; 50C.
Demo (ALERT_PROBABILITY=1.0):
[WINDOW] count=740 avgTemp=57.58C
[ALERT] Prosecna temperatura u prozoru: 57.58C (n=740) - KRITICNO! prag=50C
p95 latencija je nezavisna od acks nivoa pri RF=1 — acks utice samo na producer-side confirmation (throughput/loss, Scenario A), ne na trenutak upisa poruke u broker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Kafka — Prednosti i cena skalabilnosti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Prednosti: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Distribuirani commit log cuva sve poruke (replay)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Particije (3) -&gt; paralelizam i horizontalno skaliranje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Consumer grupe nezavisno citaju isti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Offset-based recovery nezavisan od producer-a (Scenario 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p95 end-to-end latencija ~10ms (Scenario 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Max throughput 264k msg/s (acks=0, 100 uredjaja)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914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Cena skalabilnosti: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173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~1.0-1.2 GB RAM samo za JVM broker (vs ~870MB Mosquitto)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Vise operativne kompleksnosti: particije, replikacija, consumer 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Producer-side queue-full gubici (30-37%) na tight-loop opterecenju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acks=all smanjuje throughput i CPU (17% @ 1000 uredjaja) na racun durability-ja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290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</a:rPr>
              <a:t>  Neprakticno za ARM edge uredjaje sa 256MB RAM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0" y="914400"/>
            <a:ext cx="0" cy="384048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